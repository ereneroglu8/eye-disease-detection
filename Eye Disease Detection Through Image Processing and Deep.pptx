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97C7CA6-61D2-29DE-FB4B-79D81AAD01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9EEABCF-86FF-D0B8-3C58-3A65A892AB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BB99B7B-774D-DFCF-1374-148757F9B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AB303-A9CB-40AE-9B05-19A51758B62E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B623C8F-3122-8FE8-ACB4-5E5985283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369F842-F502-691A-DD3A-046DB0DBD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A9FD2-07DF-4F84-87C4-20D5E8EF57D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57553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D1A6453-5205-556D-E822-740EB6F7F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79D66B4-8085-642B-81FA-D58CE13D8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356EA67-8226-2C23-55C7-413C58C82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AB303-A9CB-40AE-9B05-19A51758B62E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A206D41-5B23-F8BF-9605-F3647BA18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5995CB0-E607-DC0E-4816-C4E8CEE62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A9FD2-07DF-4F84-87C4-20D5E8EF57D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32890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722B9F9-E075-16E6-90E2-D24601030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B799FA5-751C-2745-CB67-887455F95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5788A09-33BE-1D59-E856-1A3088424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AB303-A9CB-40AE-9B05-19A51758B62E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263F519-6B42-3AA3-9B4E-2DA156174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FE9F035-C3C5-B912-4ED8-E40CFD8E0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A9FD2-07DF-4F84-87C4-20D5E8EF57D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1095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0A857AC-B2AA-8C0E-6A43-E6B21DD3F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B91DCE9-6FD3-A93C-C2BF-33B8A7104D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18A98FC-7350-51F8-7EBC-6391E9F14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32EF8F9-285D-DCFF-316A-15B119487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AB303-A9CB-40AE-9B05-19A51758B62E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9F30F95-CE50-A7C9-45F0-EC6FE5208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C3EBB22-54F0-1E07-D373-81F058F74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A9FD2-07DF-4F84-87C4-20D5E8EF57D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72482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11A530A-A159-0EF5-0D6D-D70DC0DD0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86CD5E4-A653-C349-6D05-F5F407F83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947CA25-EFC5-29AF-29C0-41C08EA03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F506CB75-0419-3282-18EA-4B733CCBAF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8E9B47CE-72B7-3BDD-3E3E-F4391A0FCC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4C93B673-2112-3937-9983-E184A8EB9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AB303-A9CB-40AE-9B05-19A51758B62E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2FC15884-30EB-D488-639B-B544948B9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D9FC4555-5D2F-A1EB-8D85-2ECA58405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A9FD2-07DF-4F84-87C4-20D5E8EF57D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73741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35485DD-2CE9-937E-59B9-D80292210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3865ACEF-9034-4940-564F-0ADE21422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AB303-A9CB-40AE-9B05-19A51758B62E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FF3BC1AC-E311-28D1-0C8B-E01A85E84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F48D04B4-87D0-B1F2-ABD0-4BE7E30AD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A9FD2-07DF-4F84-87C4-20D5E8EF57D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31493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55CCA8B5-A19D-45C7-4129-974F8CE42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AB303-A9CB-40AE-9B05-19A51758B62E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8FC24A41-BDB5-3BCF-C0A4-53F5259C7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74786690-4616-DDDA-B51D-48AE32030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A9FD2-07DF-4F84-87C4-20D5E8EF57D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70885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05AF13C-FE5A-75E6-2FCE-5E2FCC313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A529A80-7577-BC98-D637-0A1C77B34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353C9D7-1EE3-7FF2-3D2E-5AADD0B33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2C8AB15-CAD5-441E-6CCB-317A339AC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AB303-A9CB-40AE-9B05-19A51758B62E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1CC795F-957B-D222-9ACD-F0D6B2D18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73C7B8F-897C-2C1F-6CAD-4CE3A73A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A9FD2-07DF-4F84-87C4-20D5E8EF57D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78095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F20E2EC-942F-FE9A-B496-E2CE6BF74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3A771C4B-C992-6A36-C8C1-0A82AC1049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1B04123E-78AB-386E-005C-EF2A25867E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3AF478A-F4B2-B064-B931-4DD458173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AB303-A9CB-40AE-9B05-19A51758B62E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1E9F913-4CC3-8EA9-387F-3579DF6D5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33DB2A3-B6A8-7C57-14A2-641BE2991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A9FD2-07DF-4F84-87C4-20D5E8EF57D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41170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4D325A7-ECD7-A391-A121-6A23FD6F0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2C00B8E7-3636-7ECC-407D-EBD75267E2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2AE09B9-E13A-A474-A212-FD2D03707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AB303-A9CB-40AE-9B05-19A51758B62E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7BA7AA7-8760-F3BA-5C56-3244818CA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F5F1061-A96F-C45A-60B7-2A351963E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A9FD2-07DF-4F84-87C4-20D5E8EF57D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31539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45B222F9-E6CE-4C21-3E26-C0756F45F7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1AC8C6AA-061B-5C07-5641-1C80C49DD8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5CEAAD6-9258-42D7-02D1-B1D9B9223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AB303-A9CB-40AE-9B05-19A51758B62E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7E04D9D-42FF-0086-57A8-ED8416C63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532E1B9-4DEA-B341-BC4A-091486C8D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A9FD2-07DF-4F84-87C4-20D5E8EF57D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6764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644B88A5-183D-EDB9-27F4-B3D1098B4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BE62CA7-48A1-6801-39C4-E942BEEB6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44BC82A-E2AC-6B13-96B9-88E215DA3A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9AB303-A9CB-40AE-9B05-19A51758B62E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518322A-7218-45CA-85A5-C94F523516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E4501C5-7AC0-FD4F-C818-134985FAB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9A9FD2-07DF-4F84-87C4-20D5E8EF57D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93633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E20F9E4-4D1D-58E4-A8A4-3F6E1EB4D8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127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Eye Disease Detection Through Image Processing and Deep Learning</a:t>
            </a:r>
            <a:endParaRPr lang="tr-TR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A3C705B9-8B85-942C-AD1F-C9CF9978B0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2284" y="3602038"/>
            <a:ext cx="10215716" cy="3113394"/>
          </a:xfrm>
        </p:spPr>
        <p:txBody>
          <a:bodyPr>
            <a:normAutofit lnSpcReduction="10000"/>
          </a:bodyPr>
          <a:lstStyle/>
          <a:p>
            <a:pPr algn="l"/>
            <a:r>
              <a:rPr lang="tr-TR" dirty="0"/>
              <a:t>Machine Learning </a:t>
            </a:r>
            <a:r>
              <a:rPr lang="tr-TR" dirty="0" err="1"/>
              <a:t>Projects</a:t>
            </a:r>
            <a:endParaRPr lang="tr-TR" dirty="0"/>
          </a:p>
          <a:p>
            <a:pPr algn="l"/>
            <a:endParaRPr lang="tr-TR" dirty="0"/>
          </a:p>
          <a:p>
            <a:pPr algn="l"/>
            <a:r>
              <a:rPr lang="tr-TR" sz="1600" dirty="0"/>
              <a:t>Eren Eroğlu - 2206102046</a:t>
            </a:r>
          </a:p>
          <a:p>
            <a:pPr algn="l"/>
            <a:r>
              <a:rPr lang="tr-TR" sz="1600" dirty="0"/>
              <a:t>Mehmet Çelebi - 2306102023</a:t>
            </a:r>
          </a:p>
          <a:p>
            <a:pPr algn="l"/>
            <a:r>
              <a:rPr lang="tr-TR" sz="1600" dirty="0"/>
              <a:t>Ulaş Salatan - 2106102020</a:t>
            </a:r>
          </a:p>
          <a:p>
            <a:pPr algn="l"/>
            <a:endParaRPr lang="tr-TR" sz="1600" dirty="0"/>
          </a:p>
          <a:p>
            <a:pPr algn="l"/>
            <a:endParaRPr lang="tr-TR" sz="1600" dirty="0"/>
          </a:p>
          <a:p>
            <a:pPr algn="l"/>
            <a:endParaRPr lang="tr-TR" sz="1600" dirty="0"/>
          </a:p>
          <a:p>
            <a:pPr algn="l"/>
            <a:r>
              <a:rPr lang="tr-TR" sz="1600" dirty="0" err="1"/>
              <a:t>December</a:t>
            </a:r>
            <a:r>
              <a:rPr lang="tr-TR" sz="1600" dirty="0"/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1105586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0B2A323-9B9A-761F-73BF-44E1C814E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Problem </a:t>
            </a:r>
            <a:r>
              <a:rPr lang="tr-TR" dirty="0" err="1"/>
              <a:t>Description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D041FD6-0894-A17B-15CF-9F02E3C42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600" b="1" u="sng" dirty="0" err="1"/>
              <a:t>The</a:t>
            </a:r>
            <a:r>
              <a:rPr lang="tr-TR" sz="2600" b="1" u="sng" dirty="0"/>
              <a:t> Problem</a:t>
            </a:r>
            <a:r>
              <a:rPr lang="tr-TR" dirty="0"/>
              <a:t>:</a:t>
            </a:r>
          </a:p>
          <a:p>
            <a:r>
              <a:rPr lang="en-US" sz="1600" dirty="0"/>
              <a:t>Eye diseases (Cataract, Glaucoma, Diabetic Retinopathy) are leading causes of preventable blindness.</a:t>
            </a:r>
            <a:endParaRPr lang="tr-TR" sz="1600" dirty="0"/>
          </a:p>
          <a:p>
            <a:r>
              <a:rPr lang="en-US" sz="1600" dirty="0"/>
              <a:t>Traditional diagnosis relies heavily on experts and expensive equipment, limiting access in remote areas.</a:t>
            </a:r>
            <a:endParaRPr lang="tr-TR" sz="1600" dirty="0"/>
          </a:p>
          <a:p>
            <a:endParaRPr lang="tr-TR" sz="1600" dirty="0"/>
          </a:p>
          <a:p>
            <a:endParaRPr lang="tr-TR" sz="1600" dirty="0"/>
          </a:p>
          <a:p>
            <a:r>
              <a:rPr lang="tr-TR" sz="2600" b="1" u="sng" dirty="0" err="1"/>
              <a:t>Our</a:t>
            </a:r>
            <a:r>
              <a:rPr lang="tr-TR" sz="2600" b="1" u="sng" dirty="0"/>
              <a:t> Solution:</a:t>
            </a:r>
          </a:p>
          <a:p>
            <a:r>
              <a:rPr lang="en-US" sz="1600" dirty="0"/>
              <a:t>We developed an automated Decision Support System using Deep Learning.</a:t>
            </a:r>
            <a:endParaRPr lang="tr-TR" sz="1600" dirty="0"/>
          </a:p>
          <a:p>
            <a:r>
              <a:rPr lang="en-US" sz="1600" dirty="0"/>
              <a:t>Goal: To classify retinal fundus images into 4 categories with high precision, assisting doctors in early diagnosis.</a:t>
            </a:r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3153906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EDC3466-E88D-1D80-0188-B89918667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716" y="361680"/>
            <a:ext cx="3962400" cy="1402470"/>
          </a:xfrm>
        </p:spPr>
        <p:txBody>
          <a:bodyPr anchor="t">
            <a:normAutofit/>
          </a:bodyPr>
          <a:lstStyle/>
          <a:p>
            <a:r>
              <a:rPr lang="tr-TR" sz="3200" dirty="0" err="1"/>
              <a:t>Dataset</a:t>
            </a:r>
            <a:r>
              <a:rPr lang="tr-TR" sz="3200" dirty="0"/>
              <a:t> </a:t>
            </a:r>
            <a:r>
              <a:rPr lang="tr-TR" sz="3200" dirty="0" err="1"/>
              <a:t>Overview</a:t>
            </a:r>
            <a:endParaRPr lang="tr-TR" sz="3200" dirty="0"/>
          </a:p>
        </p:txBody>
      </p:sp>
      <p:cxnSp>
        <p:nvCxnSpPr>
          <p:cNvPr id="36" name="Straight Connector 15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C3D4C50-F606-B6EE-7A2E-A831970AA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716" y="1455176"/>
            <a:ext cx="4576916" cy="4687208"/>
          </a:xfrm>
        </p:spPr>
        <p:txBody>
          <a:bodyPr>
            <a:normAutofit/>
          </a:bodyPr>
          <a:lstStyle/>
          <a:p>
            <a:r>
              <a:rPr lang="tr-TR" sz="1600" b="1" dirty="0" err="1"/>
              <a:t>Source:</a:t>
            </a:r>
            <a:r>
              <a:rPr lang="tr-TR" sz="1600" dirty="0" err="1"/>
              <a:t>https</a:t>
            </a:r>
            <a:r>
              <a:rPr lang="tr-TR" sz="1600" dirty="0"/>
              <a:t>://www.kaggle.com/datasets/gunavenkatdoddi/eye-diseases-classification</a:t>
            </a:r>
          </a:p>
          <a:p>
            <a:r>
              <a:rPr lang="tr-TR" sz="2400" b="1" u="sng" dirty="0" err="1"/>
              <a:t>Dataset</a:t>
            </a:r>
            <a:r>
              <a:rPr lang="tr-TR" sz="2400" b="1" u="sng" dirty="0"/>
              <a:t> </a:t>
            </a:r>
            <a:r>
              <a:rPr lang="tr-TR" sz="2400" b="1" u="sng" dirty="0" err="1"/>
              <a:t>Structure</a:t>
            </a:r>
            <a:r>
              <a:rPr lang="tr-TR" sz="2400" b="1" u="sng" dirty="0"/>
              <a:t>:</a:t>
            </a:r>
          </a:p>
          <a:p>
            <a:r>
              <a:rPr lang="en-US" sz="1600" b="1" dirty="0"/>
              <a:t>Classes:</a:t>
            </a:r>
            <a:r>
              <a:rPr lang="en-US" sz="1600" dirty="0"/>
              <a:t> The dataset consists of 4 balanced classes</a:t>
            </a:r>
            <a:endParaRPr lang="tr-TR" sz="1600" dirty="0"/>
          </a:p>
          <a:p>
            <a:r>
              <a:rPr lang="fr-FR" sz="1600" b="1" dirty="0"/>
              <a:t>Total Images:</a:t>
            </a:r>
            <a:r>
              <a:rPr lang="fr-FR" sz="1600" dirty="0"/>
              <a:t> ~4,200 </a:t>
            </a:r>
            <a:r>
              <a:rPr lang="fr-FR" sz="1600" dirty="0" err="1"/>
              <a:t>Retinal</a:t>
            </a:r>
            <a:r>
              <a:rPr lang="fr-FR" sz="1600" dirty="0"/>
              <a:t> Fundus Images</a:t>
            </a:r>
            <a:endParaRPr lang="tr-TR" sz="1600" dirty="0"/>
          </a:p>
          <a:p>
            <a:endParaRPr lang="tr-TR" sz="1600" dirty="0"/>
          </a:p>
          <a:p>
            <a:r>
              <a:rPr lang="tr-TR" sz="2400" b="1" u="sng" dirty="0" err="1"/>
              <a:t>Preprocessing</a:t>
            </a:r>
            <a:r>
              <a:rPr lang="tr-TR" sz="2400" b="1" u="sng" dirty="0"/>
              <a:t> </a:t>
            </a:r>
            <a:r>
              <a:rPr lang="tr-TR" sz="2400" b="1" u="sng" dirty="0" err="1"/>
              <a:t>Steps</a:t>
            </a:r>
            <a:r>
              <a:rPr lang="tr-TR" sz="2400" b="1" u="sng" dirty="0"/>
              <a:t>:</a:t>
            </a:r>
          </a:p>
          <a:p>
            <a:r>
              <a:rPr lang="en-US" sz="1600" b="1" dirty="0"/>
              <a:t>Resizing:</a:t>
            </a:r>
            <a:r>
              <a:rPr lang="en-US" sz="1600" dirty="0"/>
              <a:t> Images converted to </a:t>
            </a:r>
            <a:r>
              <a:rPr lang="en-US" sz="1600" b="1" dirty="0"/>
              <a:t>224x224</a:t>
            </a:r>
            <a:r>
              <a:rPr lang="en-US" sz="1600" dirty="0"/>
              <a:t> pixels (VGG16 standard).</a:t>
            </a:r>
            <a:endParaRPr lang="tr-TR" sz="1600" dirty="0"/>
          </a:p>
          <a:p>
            <a:r>
              <a:rPr lang="en-US" sz="1600" b="1" dirty="0"/>
              <a:t>Normalization:</a:t>
            </a:r>
            <a:r>
              <a:rPr lang="en-US" sz="1600" dirty="0"/>
              <a:t> Pixel values scaled to [0, 1] range.</a:t>
            </a:r>
            <a:endParaRPr lang="tr-TR" sz="1600" dirty="0"/>
          </a:p>
          <a:p>
            <a:r>
              <a:rPr lang="en-US" sz="1600" b="1" dirty="0"/>
              <a:t>Augmentation:</a:t>
            </a:r>
            <a:r>
              <a:rPr lang="en-US" sz="1600" dirty="0"/>
              <a:t> Applied rotation, zoom, and horizontal flip to prevent overfitting.</a:t>
            </a:r>
            <a:endParaRPr lang="tr-TR" sz="1600" dirty="0"/>
          </a:p>
        </p:txBody>
      </p:sp>
      <p:sp>
        <p:nvSpPr>
          <p:cNvPr id="37" name="Rectangle 17">
            <a:extLst>
              <a:ext uri="{FF2B5EF4-FFF2-40B4-BE49-F238E27FC236}">
                <a16:creationId xmlns:a16="http://schemas.microsoft.com/office/drawing/2014/main" id="{2AB11B05-5E59-5B88-D8DB-0E975DEAE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64727" y="0"/>
            <a:ext cx="6927273" cy="6876532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Resim 10" descr="Astronomi nesnesi, daire, küre, evren, kainat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8821104-6D8D-F65B-932E-A54AA1FAF5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119" y="1764150"/>
            <a:ext cx="3137831" cy="3137831"/>
          </a:xfrm>
          <a:prstGeom prst="rect">
            <a:avLst/>
          </a:prstGeom>
        </p:spPr>
      </p:pic>
      <p:pic>
        <p:nvPicPr>
          <p:cNvPr id="9" name="Resim 8" descr="Astronomi nesnesi, gökyüzü, küre, göksel olay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ED9BBF9-3DD2-3288-F0EC-F04FCE9687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3063" y="251209"/>
            <a:ext cx="3700823" cy="2470298"/>
          </a:xfrm>
          <a:prstGeom prst="rect">
            <a:avLst/>
          </a:prstGeom>
        </p:spPr>
      </p:pic>
      <p:pic>
        <p:nvPicPr>
          <p:cNvPr id="7" name="Resim 6" descr="küre, Astronomi nesnesi, gezegen, göksel olay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BBFF891-DC7E-7821-A917-1726F0B9AA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5277" y="3524332"/>
            <a:ext cx="2997047" cy="299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953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2255C49-11C1-A454-8A38-BC52B90EA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Methodology</a:t>
            </a:r>
            <a:endParaRPr lang="tr-TR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8B0A5CA-4F3D-4DEB-3F80-99E1699A16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62251"/>
            <a:ext cx="10791092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 Model: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VGG16 (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Pre-trained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ImageNet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</a:t>
            </a:r>
            <a:r>
              <a:rPr kumimoji="0" lang="tr-TR" altLang="tr-TR" sz="24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Fine-Tuning</a:t>
            </a:r>
            <a:r>
              <a:rPr kumimoji="0" lang="tr-TR" altLang="tr-TR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Instead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just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unfroze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last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layers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allowed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specific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eye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diseases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e.g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.,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optic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changes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lesions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rather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just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general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shapes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Handling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Imbalance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Weights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penalize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disease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cases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forced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detecting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diseases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rather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defaulting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tr-TR" altLang="tr-T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"Normal".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Optimization</a:t>
            </a:r>
            <a:r>
              <a:rPr kumimoji="0" lang="tr-TR" altLang="tr-TR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Optimizer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Adam (Learning Rate: 1e-5).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Callbacks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en-US" sz="1800" dirty="0" err="1"/>
              <a:t>ReduceLROnPlateau</a:t>
            </a:r>
            <a:r>
              <a:rPr lang="en-US" sz="1800" dirty="0"/>
              <a:t> (for stable convergence) and </a:t>
            </a:r>
            <a:r>
              <a:rPr lang="en-US" sz="1800" dirty="0" err="1"/>
              <a:t>EarlyStopping</a:t>
            </a:r>
            <a:r>
              <a:rPr lang="en-US" sz="1800" dirty="0"/>
              <a:t> (to prevent overfitting).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235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3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E2BED85-BCC0-A4C5-C649-2022B56A2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tr-TR"/>
              <a:t>Performance Metrics - Training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D9F7CB4-E806-AEB9-2922-7252CC500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tr-TR" sz="2400" b="1" u="sng" dirty="0"/>
              <a:t>Training Analysis:</a:t>
            </a:r>
          </a:p>
          <a:p>
            <a:endParaRPr lang="tr-TR" sz="2400" b="1" u="sng" dirty="0"/>
          </a:p>
          <a:p>
            <a:r>
              <a:rPr lang="en-US" sz="1600" dirty="0"/>
              <a:t>The model was trained for 25 Epochs (Stopped early at Epoch 16).</a:t>
            </a:r>
            <a:endParaRPr lang="tr-TR" sz="1600" dirty="0"/>
          </a:p>
          <a:p>
            <a:endParaRPr lang="tr-TR" sz="1600" dirty="0"/>
          </a:p>
          <a:p>
            <a:r>
              <a:rPr lang="en-US" sz="2000" b="1" dirty="0"/>
              <a:t>Observation:</a:t>
            </a:r>
            <a:r>
              <a:rPr lang="en-US" sz="2000" dirty="0"/>
              <a:t> </a:t>
            </a:r>
            <a:r>
              <a:rPr lang="en-US" sz="1600" dirty="0"/>
              <a:t>The "Loss Graph" shows a step-down pattern. This indicates that the Learning Rate Scheduler successfully optimized the training by lowering the learning rate when validation loss plateaued.</a:t>
            </a:r>
            <a:endParaRPr lang="tr-TR" sz="1600" dirty="0"/>
          </a:p>
          <a:p>
            <a:endParaRPr lang="tr-TR" sz="1600" dirty="0"/>
          </a:p>
          <a:p>
            <a:r>
              <a:rPr lang="en-US" sz="2000" b="1" dirty="0"/>
              <a:t>Result:</a:t>
            </a:r>
            <a:r>
              <a:rPr lang="en-US" sz="2000" dirty="0"/>
              <a:t> </a:t>
            </a:r>
            <a:r>
              <a:rPr lang="en-US" sz="1600" dirty="0"/>
              <a:t>The model converged without overfitting</a:t>
            </a:r>
            <a:r>
              <a:rPr lang="en-US" sz="2000" dirty="0"/>
              <a:t>.</a:t>
            </a:r>
            <a:endParaRPr lang="tr-TR" sz="2000" dirty="0"/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04D7DE12-683D-9A13-070A-11C94024F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928" y="2198362"/>
            <a:ext cx="5998143" cy="366654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382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2206FF3-F53D-251D-269B-AA9B3D056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tr-TR" dirty="0" err="1"/>
              <a:t>Error</a:t>
            </a:r>
            <a:r>
              <a:rPr lang="tr-TR" dirty="0"/>
              <a:t> Analysis 1 (</a:t>
            </a:r>
            <a:r>
              <a:rPr lang="tr-TR" dirty="0" err="1"/>
              <a:t>Confusion</a:t>
            </a:r>
            <a:r>
              <a:rPr lang="tr-TR" dirty="0"/>
              <a:t> </a:t>
            </a:r>
            <a:r>
              <a:rPr lang="tr-TR" dirty="0" err="1"/>
              <a:t>Matrix</a:t>
            </a:r>
            <a:r>
              <a:rPr lang="tr-TR" dirty="0"/>
              <a:t>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E0FEE84-B8B2-315F-155C-BF0A029DF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23" y="2198362"/>
            <a:ext cx="5997677" cy="4585896"/>
          </a:xfrm>
        </p:spPr>
        <p:txBody>
          <a:bodyPr>
            <a:normAutofit/>
          </a:bodyPr>
          <a:lstStyle/>
          <a:p>
            <a:r>
              <a:rPr lang="tr-TR" sz="2400" b="1" u="sng" dirty="0" err="1"/>
              <a:t>Visualizing</a:t>
            </a:r>
            <a:r>
              <a:rPr lang="tr-TR" sz="2400" b="1" u="sng" dirty="0"/>
              <a:t> </a:t>
            </a:r>
            <a:r>
              <a:rPr lang="tr-TR" sz="2400" b="1" u="sng" dirty="0" err="1"/>
              <a:t>Predictions</a:t>
            </a:r>
            <a:r>
              <a:rPr lang="tr-TR" sz="2400" b="1" u="sng" dirty="0"/>
              <a:t>:</a:t>
            </a:r>
          </a:p>
          <a:p>
            <a:r>
              <a:rPr lang="en-US" sz="1600" dirty="0"/>
              <a:t>The Confusion Matrix shows how the model classifies each category</a:t>
            </a:r>
            <a:endParaRPr lang="tr-TR" sz="1600" dirty="0"/>
          </a:p>
          <a:p>
            <a:endParaRPr lang="tr-TR" sz="1800" dirty="0"/>
          </a:p>
          <a:p>
            <a:r>
              <a:rPr lang="tr-TR" sz="2400" b="1" u="sng" dirty="0" err="1"/>
              <a:t>Key</a:t>
            </a:r>
            <a:r>
              <a:rPr lang="tr-TR" sz="2400" b="1" u="sng" dirty="0"/>
              <a:t> </a:t>
            </a:r>
            <a:r>
              <a:rPr lang="tr-TR" sz="2400" b="1" u="sng" dirty="0" err="1"/>
              <a:t>Findings</a:t>
            </a:r>
            <a:r>
              <a:rPr lang="tr-TR" sz="2600" u="sng" dirty="0"/>
              <a:t>:</a:t>
            </a:r>
          </a:p>
          <a:p>
            <a:r>
              <a:rPr lang="en-US" sz="1600" b="1" dirty="0"/>
              <a:t>Cataract:</a:t>
            </a:r>
            <a:r>
              <a:rPr lang="en-US" sz="1600" dirty="0"/>
              <a:t> 1</a:t>
            </a:r>
            <a:r>
              <a:rPr lang="tr-TR" sz="1600" dirty="0"/>
              <a:t>50</a:t>
            </a:r>
            <a:r>
              <a:rPr lang="en-US" sz="1600" dirty="0"/>
              <a:t> correct out of 207 </a:t>
            </a:r>
            <a:endParaRPr lang="tr-TR" sz="1600" dirty="0"/>
          </a:p>
          <a:p>
            <a:r>
              <a:rPr lang="en-US" sz="1600" b="1" dirty="0"/>
              <a:t>Diabetic Retinopathy:</a:t>
            </a:r>
            <a:r>
              <a:rPr lang="en-US" sz="1600" dirty="0"/>
              <a:t> 142 correct </a:t>
            </a:r>
            <a:r>
              <a:rPr lang="tr-TR" sz="1600" dirty="0" err="1"/>
              <a:t>out</a:t>
            </a:r>
            <a:r>
              <a:rPr lang="tr-TR" sz="1600" dirty="0"/>
              <a:t> of 219</a:t>
            </a:r>
          </a:p>
          <a:p>
            <a:r>
              <a:rPr lang="en-US" sz="1600" b="1" dirty="0" err="1"/>
              <a:t>Glaucoma:</a:t>
            </a:r>
            <a:r>
              <a:rPr lang="en-US" sz="1600" dirty="0" err="1"/>
              <a:t>The</a:t>
            </a:r>
            <a:r>
              <a:rPr lang="en-US" sz="1600" dirty="0"/>
              <a:t> model correctly identified 32 cases but misclassified 165 Glaucoma cases as "Normal</a:t>
            </a:r>
            <a:r>
              <a:rPr lang="en-US" sz="1600" b="1" dirty="0"/>
              <a:t>"</a:t>
            </a:r>
            <a:r>
              <a:rPr lang="en-US" sz="1600" dirty="0"/>
              <a:t>.</a:t>
            </a:r>
            <a:endParaRPr lang="tr-TR" sz="1600" dirty="0"/>
          </a:p>
          <a:p>
            <a:r>
              <a:rPr lang="en-US" sz="1600" b="1" dirty="0"/>
              <a:t>Reason:</a:t>
            </a:r>
            <a:r>
              <a:rPr lang="en-US" sz="1600" dirty="0"/>
              <a:t> Unlike Cataracts, Glaucoma does not cause obvious retinal lesions. It affects the </a:t>
            </a:r>
            <a:r>
              <a:rPr lang="en-US" sz="1600" i="1" dirty="0"/>
              <a:t>optic disc geometry</a:t>
            </a:r>
            <a:r>
              <a:rPr lang="en-US" sz="1600" dirty="0"/>
              <a:t>, which is difficult for standard CNNs to detect without specific segmentation.</a:t>
            </a:r>
            <a:endParaRPr lang="tr-TR" sz="16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FE388F9B-A60E-7812-BAE4-D86351EA7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59974"/>
            <a:ext cx="5463699" cy="469982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056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776DE765-8BDD-D407-276B-E35B792F7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29" y="602234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3200" dirty="0"/>
              <a:t>Error Analysis II (Statistical Metrics</a:t>
            </a:r>
            <a:r>
              <a:rPr lang="en-US" sz="2800" dirty="0"/>
              <a:t>)</a:t>
            </a:r>
            <a:endParaRPr lang="tr-TR" sz="28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C7C044C-B214-5E9E-B6FF-3C275B2D2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4289396" cy="3207258"/>
          </a:xfrm>
        </p:spPr>
        <p:txBody>
          <a:bodyPr anchor="t">
            <a:normAutofit lnSpcReduction="10000"/>
          </a:bodyPr>
          <a:lstStyle/>
          <a:p>
            <a:r>
              <a:rPr lang="tr-TR" sz="2400" b="1" u="sng" dirty="0"/>
              <a:t>Precision &amp; </a:t>
            </a:r>
            <a:r>
              <a:rPr lang="tr-TR" sz="2400" b="1" u="sng" dirty="0" err="1"/>
              <a:t>Reliability</a:t>
            </a:r>
            <a:r>
              <a:rPr lang="tr-TR" sz="1400" dirty="0"/>
              <a:t>:</a:t>
            </a:r>
          </a:p>
          <a:p>
            <a:r>
              <a:rPr lang="en-US" sz="1600" dirty="0"/>
              <a:t>Cataract (0.96) &amp; Diabetic Retinopathy (0.98): The model achieves near-perfect precision. This means if the model predicts a disease, the diagnosis is highly reliable</a:t>
            </a:r>
            <a:r>
              <a:rPr lang="tr-TR" sz="1400" dirty="0"/>
              <a:t>.</a:t>
            </a:r>
          </a:p>
          <a:p>
            <a:r>
              <a:rPr lang="tr-TR" sz="2600" b="1" u="sng" dirty="0" err="1"/>
              <a:t>The</a:t>
            </a:r>
            <a:r>
              <a:rPr lang="tr-TR" sz="2600" b="1" u="sng" dirty="0"/>
              <a:t> </a:t>
            </a:r>
            <a:r>
              <a:rPr lang="tr-TR" sz="2600" b="1" u="sng" dirty="0" err="1"/>
              <a:t>Trade-off</a:t>
            </a:r>
            <a:r>
              <a:rPr lang="tr-TR" sz="1400" dirty="0"/>
              <a:t>:</a:t>
            </a:r>
          </a:p>
          <a:p>
            <a:r>
              <a:rPr lang="en-US" sz="1600" dirty="0"/>
              <a:t>While precision is high, Recall varies.</a:t>
            </a:r>
            <a:endParaRPr lang="tr-TR" sz="1600" dirty="0"/>
          </a:p>
          <a:p>
            <a:r>
              <a:rPr lang="en-US" sz="1600" dirty="0"/>
              <a:t>The model adopts a conservative approach, preferring to be "sure" rather than raising false alarms. This is crucial for medical screening tools to maintain trust.</a:t>
            </a:r>
            <a:endParaRPr lang="tr-TR" sz="16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CE8656F5-9C93-E60F-AF3A-311289545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774729"/>
            <a:ext cx="6922008" cy="340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537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13B377B-9FBE-215B-AC75-E08F03886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tr-TR" dirty="0"/>
              <a:t>Real-World Test (Live Demo)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E87E435-A753-15CD-2400-053DE4A74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tr-TR" sz="2400" b="1" u="sng" dirty="0" err="1"/>
              <a:t>Testing</a:t>
            </a:r>
            <a:r>
              <a:rPr lang="tr-TR" sz="2400" b="1" u="sng" dirty="0"/>
              <a:t> on </a:t>
            </a:r>
            <a:r>
              <a:rPr lang="tr-TR" sz="2400" b="1" u="sng" dirty="0" err="1"/>
              <a:t>Unseen</a:t>
            </a:r>
            <a:r>
              <a:rPr lang="tr-TR" sz="2400" b="1" u="sng" dirty="0"/>
              <a:t> Data:</a:t>
            </a:r>
          </a:p>
          <a:p>
            <a:r>
              <a:rPr lang="en-US" sz="1600" dirty="0"/>
              <a:t>We tested the final model on a random Cataract image that was not part of the training set.</a:t>
            </a:r>
            <a:endParaRPr lang="tr-TR" sz="1600" dirty="0"/>
          </a:p>
          <a:p>
            <a:endParaRPr lang="tr-TR" sz="2000" dirty="0"/>
          </a:p>
          <a:p>
            <a:r>
              <a:rPr lang="en-US" sz="2400" b="1" u="sng" dirty="0"/>
              <a:t>Conclusion</a:t>
            </a:r>
            <a:r>
              <a:rPr lang="en-US" sz="2400" u="sng" dirty="0"/>
              <a:t>: </a:t>
            </a:r>
            <a:endParaRPr lang="tr-TR" sz="2400" u="sng" dirty="0"/>
          </a:p>
          <a:p>
            <a:r>
              <a:rPr lang="en-US" sz="1600" dirty="0"/>
              <a:t>The model is highly reliable for detecting cataracts with near-perfect confidence.</a:t>
            </a:r>
            <a:endParaRPr lang="tr-TR" sz="1600" dirty="0"/>
          </a:p>
          <a:p>
            <a:pPr marL="0" indent="0">
              <a:buNone/>
            </a:pPr>
            <a:endParaRPr lang="tr-TR" sz="20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A8D2F7D3-7049-FAAE-F308-AFD9E4878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0178" y="2184914"/>
            <a:ext cx="3446883" cy="3755915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478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F67FF72-CC5E-B11D-BEB8-41CFDB8D9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Conclusion</a:t>
            </a:r>
            <a:r>
              <a:rPr lang="tr-TR" dirty="0"/>
              <a:t> &amp; </a:t>
            </a:r>
            <a:r>
              <a:rPr lang="tr-TR" dirty="0" err="1"/>
              <a:t>Future</a:t>
            </a:r>
            <a:r>
              <a:rPr lang="tr-TR" dirty="0"/>
              <a:t> </a:t>
            </a:r>
            <a:r>
              <a:rPr lang="tr-TR" dirty="0" err="1"/>
              <a:t>Work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424497C-F303-8DE7-208A-449AC9769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400" b="1" u="sng" dirty="0" err="1"/>
              <a:t>Summary</a:t>
            </a:r>
            <a:r>
              <a:rPr lang="tr-TR" sz="2400" b="1" u="sng" dirty="0"/>
              <a:t>:</a:t>
            </a:r>
          </a:p>
          <a:p>
            <a:r>
              <a:rPr lang="en-US" sz="1600" dirty="0"/>
              <a:t>Successfully built a Deep Learning model using Transfer Learning.</a:t>
            </a:r>
            <a:endParaRPr lang="tr-TR" sz="1600" dirty="0"/>
          </a:p>
          <a:p>
            <a:r>
              <a:rPr lang="en-US" sz="1600" dirty="0"/>
              <a:t>Optimized with Fine-Tuning and Class Weights to prioritize disease detection.</a:t>
            </a:r>
            <a:endParaRPr lang="tr-TR" sz="1600" dirty="0"/>
          </a:p>
          <a:p>
            <a:r>
              <a:rPr lang="en-US" sz="1600" dirty="0"/>
              <a:t>Achieved 99% confidence in real-world Cataract testing.</a:t>
            </a:r>
            <a:endParaRPr lang="tr-TR" sz="1600" dirty="0"/>
          </a:p>
          <a:p>
            <a:endParaRPr lang="tr-TR" sz="1600" dirty="0"/>
          </a:p>
          <a:p>
            <a:endParaRPr lang="tr-TR" sz="1600" dirty="0"/>
          </a:p>
          <a:p>
            <a:r>
              <a:rPr lang="tr-TR" sz="2400" b="1" dirty="0" err="1"/>
              <a:t>Future</a:t>
            </a:r>
            <a:r>
              <a:rPr lang="tr-TR" sz="2400" b="1" dirty="0"/>
              <a:t> </a:t>
            </a:r>
            <a:r>
              <a:rPr lang="tr-TR" sz="2400" b="1" dirty="0" err="1"/>
              <a:t>Work</a:t>
            </a:r>
            <a:r>
              <a:rPr lang="tr-TR" sz="2400" b="1" dirty="0"/>
              <a:t>:</a:t>
            </a:r>
          </a:p>
          <a:p>
            <a:r>
              <a:rPr lang="en-US" sz="1600" dirty="0"/>
              <a:t>Implement Optic Disc Segmentation to further improve Glaucoma detection.</a:t>
            </a:r>
            <a:endParaRPr lang="tr-TR" sz="1600" dirty="0"/>
          </a:p>
          <a:p>
            <a:r>
              <a:rPr lang="en-US" sz="1600" dirty="0"/>
              <a:t>Deploy the model as a Mobile App for doctors in remote areas</a:t>
            </a:r>
            <a:r>
              <a:rPr lang="tr-TR" sz="1600" dirty="0"/>
              <a:t>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56384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630</Words>
  <Application>Microsoft Office PowerPoint</Application>
  <PresentationFormat>Geniş ekran</PresentationFormat>
  <Paragraphs>81</Paragraphs>
  <Slides>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Teması</vt:lpstr>
      <vt:lpstr>Eye Disease Detection Through Image Processing and Deep Learning</vt:lpstr>
      <vt:lpstr>Problem Description</vt:lpstr>
      <vt:lpstr>Dataset Overview</vt:lpstr>
      <vt:lpstr>Methodology</vt:lpstr>
      <vt:lpstr>Performance Metrics - Training</vt:lpstr>
      <vt:lpstr>Error Analysis 1 (Confusion Matrix)</vt:lpstr>
      <vt:lpstr>Error Analysis II (Statistical Metrics)</vt:lpstr>
      <vt:lpstr>Real-World Test (Live Demo)</vt:lpstr>
      <vt:lpstr>Conclusion &amp;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Mehmet Çelebi</dc:creator>
  <cp:lastModifiedBy>Mehmet Çelebi</cp:lastModifiedBy>
  <cp:revision>1</cp:revision>
  <dcterms:created xsi:type="dcterms:W3CDTF">2025-12-06T18:39:54Z</dcterms:created>
  <dcterms:modified xsi:type="dcterms:W3CDTF">2025-12-06T23:17:19Z</dcterms:modified>
</cp:coreProperties>
</file>